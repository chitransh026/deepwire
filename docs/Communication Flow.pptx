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846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743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56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54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60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70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063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2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32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36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46851-0456-4840-939C-098C242070D6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C0094-BD16-4A6E-AC2B-D56BC0315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706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28" y="1867432"/>
            <a:ext cx="4030061" cy="39151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961" y="1867431"/>
            <a:ext cx="4030061" cy="39151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82" y="2385354"/>
            <a:ext cx="965345" cy="60254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441577" y="3335620"/>
            <a:ext cx="3258356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4441577" y="3825022"/>
            <a:ext cx="3258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91129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55"/>
    </mc:Choice>
    <mc:Fallback xmlns="">
      <p:transition spd="slow" advTm="11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46965" y="1115706"/>
            <a:ext cx="1880315" cy="70833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NODE #01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6966" y="2311292"/>
            <a:ext cx="1880315" cy="70833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NODE #02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6277" y="3592598"/>
            <a:ext cx="1880315" cy="70833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NODE #03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60324" y="4300936"/>
            <a:ext cx="2535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.</a:t>
            </a:r>
          </a:p>
          <a:p>
            <a:r>
              <a:rPr lang="en-US" sz="2000" b="1" dirty="0" smtClean="0"/>
              <a:t>.</a:t>
            </a:r>
          </a:p>
          <a:p>
            <a:r>
              <a:rPr lang="en-US" sz="2000" b="1" dirty="0" smtClean="0"/>
              <a:t>.</a:t>
            </a:r>
          </a:p>
          <a:p>
            <a:r>
              <a:rPr lang="en-US" sz="2000" b="1" dirty="0" smtClean="0"/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6964" y="5624375"/>
            <a:ext cx="1880315" cy="70833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NODE #N</a:t>
            </a:r>
            <a:endParaRPr lang="en-IN" sz="2000" b="1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5" idx="0"/>
            <a:endCxn id="14" idx="2"/>
          </p:cNvCxnSpPr>
          <p:nvPr/>
        </p:nvCxnSpPr>
        <p:spPr>
          <a:xfrm flipH="1" flipV="1">
            <a:off x="1687123" y="1824044"/>
            <a:ext cx="1" cy="4872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0"/>
          </p:cNvCxnSpPr>
          <p:nvPr/>
        </p:nvCxnSpPr>
        <p:spPr>
          <a:xfrm flipH="1" flipV="1">
            <a:off x="1687124" y="3019630"/>
            <a:ext cx="19311" cy="5729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627279" y="1469875"/>
            <a:ext cx="2047752" cy="1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675031" y="1115706"/>
            <a:ext cx="2562896" cy="70833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SERVER NODE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383" y="2896941"/>
            <a:ext cx="1468192" cy="1361602"/>
          </a:xfrm>
          <a:prstGeom prst="rect">
            <a:avLst/>
          </a:prstGeom>
        </p:spPr>
      </p:pic>
      <p:cxnSp>
        <p:nvCxnSpPr>
          <p:cNvPr id="57" name="Straight Arrow Connector 56"/>
          <p:cNvCxnSpPr>
            <a:stCxn id="34" idx="2"/>
            <a:endCxn id="55" idx="0"/>
          </p:cNvCxnSpPr>
          <p:nvPr/>
        </p:nvCxnSpPr>
        <p:spPr>
          <a:xfrm>
            <a:off x="5956479" y="1824044"/>
            <a:ext cx="0" cy="1072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170" y="2639730"/>
            <a:ext cx="1876023" cy="1876023"/>
          </a:xfrm>
          <a:prstGeom prst="rect">
            <a:avLst/>
          </a:prstGeom>
        </p:spPr>
      </p:pic>
      <p:cxnSp>
        <p:nvCxnSpPr>
          <p:cNvPr id="59" name="Straight Arrow Connector 58"/>
          <p:cNvCxnSpPr>
            <a:stCxn id="55" idx="3"/>
            <a:endCxn id="58" idx="1"/>
          </p:cNvCxnSpPr>
          <p:nvPr/>
        </p:nvCxnSpPr>
        <p:spPr>
          <a:xfrm>
            <a:off x="6690575" y="3577742"/>
            <a:ext cx="19425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7981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50"/>
    </mc:Choice>
    <mc:Fallback xmlns="">
      <p:transition spd="slow" advTm="11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04383" y="0"/>
            <a:ext cx="2427667" cy="10431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Footlight MT Light" panose="0204060206030A020304" pitchFamily="18" charset="0"/>
              </a:rPr>
              <a:t>START</a:t>
            </a:r>
            <a:endParaRPr lang="en-IN" b="1" dirty="0">
              <a:latin typeface="Footlight MT Light" panose="0204060206030A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80323" y="1513266"/>
            <a:ext cx="4275785" cy="10303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Footlight MT Light" panose="0204060206030A020304" pitchFamily="18" charset="0"/>
              </a:rPr>
              <a:t>Setup: Serial, DHT, </a:t>
            </a:r>
            <a:r>
              <a:rPr lang="en-US" b="1" dirty="0" err="1">
                <a:latin typeface="Footlight MT Light" panose="0204060206030A020304" pitchFamily="18" charset="0"/>
              </a:rPr>
              <a:t>WiFi</a:t>
            </a:r>
            <a:r>
              <a:rPr lang="en-US" b="1" dirty="0">
                <a:latin typeface="Footlight MT Light" panose="0204060206030A020304" pitchFamily="18" charset="0"/>
              </a:rPr>
              <a:t> STA, ESP-NOW, Callbacks, Tasks</a:t>
            </a:r>
            <a:endParaRPr lang="en-IN" dirty="0">
              <a:latin typeface="Footlight MT Light" panose="0204060206030A020304" pitchFamily="18" charset="0"/>
            </a:endParaRPr>
          </a:p>
        </p:txBody>
      </p:sp>
      <p:cxnSp>
        <p:nvCxnSpPr>
          <p:cNvPr id="5" name="Straight Arrow Connector 4"/>
          <p:cNvCxnSpPr>
            <a:stCxn id="2" idx="4"/>
            <a:endCxn id="3" idx="0"/>
          </p:cNvCxnSpPr>
          <p:nvPr/>
        </p:nvCxnSpPr>
        <p:spPr>
          <a:xfrm flipH="1">
            <a:off x="5718216" y="1043189"/>
            <a:ext cx="1" cy="470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80320" y="3258354"/>
            <a:ext cx="4275788" cy="1571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helloTask (every 5s)</a:t>
            </a:r>
            <a:br>
              <a:rPr lang="en-US" b="1" dirty="0"/>
            </a:br>
            <a:endParaRPr lang="en-US" b="1" dirty="0"/>
          </a:p>
          <a:p>
            <a:pPr algn="ctr"/>
            <a:r>
              <a:rPr lang="en-US" b="1" dirty="0"/>
              <a:t>Broadcast HELLO packet</a:t>
            </a:r>
          </a:p>
          <a:p>
            <a:pPr algn="ctr"/>
            <a:r>
              <a:rPr lang="en-US" b="1" dirty="0"/>
              <a:t>Remove stale neighbors</a:t>
            </a:r>
          </a:p>
          <a:p>
            <a:pPr algn="ctr"/>
            <a:r>
              <a:rPr lang="en-US" b="1" dirty="0" smtClean="0"/>
              <a:t>Update neighbor table (MAC, RSSI, hop+1)</a:t>
            </a:r>
            <a:endParaRPr lang="en-US" b="1" dirty="0"/>
          </a:p>
        </p:txBody>
      </p:sp>
      <p:cxnSp>
        <p:nvCxnSpPr>
          <p:cNvPr id="11" name="Straight Arrow Connector 10"/>
          <p:cNvCxnSpPr>
            <a:endCxn id="10" idx="0"/>
          </p:cNvCxnSpPr>
          <p:nvPr/>
        </p:nvCxnSpPr>
        <p:spPr>
          <a:xfrm>
            <a:off x="5718214" y="2556455"/>
            <a:ext cx="0" cy="701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80320" y="5273897"/>
            <a:ext cx="4275788" cy="1584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effectLst/>
                <a:latin typeface="Footlight MT Light" panose="0204060206030A020304" pitchFamily="18" charset="0"/>
              </a:rPr>
              <a:t>SensorTask (every 10s)</a:t>
            </a:r>
          </a:p>
          <a:p>
            <a:pPr algn="ctr"/>
            <a:endParaRPr lang="en-US" b="1" dirty="0" smtClean="0">
              <a:effectLst/>
              <a:latin typeface="Footlight MT Light" panose="0204060206030A020304" pitchFamily="18" charset="0"/>
            </a:endParaRPr>
          </a:p>
          <a:p>
            <a:pPr algn="ctr"/>
            <a:r>
              <a:rPr lang="en-US" b="1" dirty="0" smtClean="0">
                <a:effectLst/>
                <a:latin typeface="Footlight MT Light" panose="0204060206030A020304" pitchFamily="18" charset="0"/>
              </a:rPr>
              <a:t>Read DHT &amp; MQ </a:t>
            </a:r>
            <a:r>
              <a:rPr lang="en-US" b="1" dirty="0" err="1" smtClean="0">
                <a:effectLst/>
                <a:latin typeface="Footlight MT Light" panose="0204060206030A020304" pitchFamily="18" charset="0"/>
              </a:rPr>
              <a:t>sensorsIf</a:t>
            </a:r>
            <a:r>
              <a:rPr lang="en-US" b="1" dirty="0" smtClean="0">
                <a:effectLst/>
                <a:latin typeface="Footlight MT Light" panose="0204060206030A020304" pitchFamily="18" charset="0"/>
              </a:rPr>
              <a:t> transmission enabled → queue packet</a:t>
            </a:r>
          </a:p>
        </p:txBody>
      </p:sp>
      <p:cxnSp>
        <p:nvCxnSpPr>
          <p:cNvPr id="20" name="Straight Arrow Connector 19"/>
          <p:cNvCxnSpPr>
            <a:endCxn id="19" idx="0"/>
          </p:cNvCxnSpPr>
          <p:nvPr/>
        </p:nvCxnSpPr>
        <p:spPr>
          <a:xfrm>
            <a:off x="5716062" y="4829575"/>
            <a:ext cx="2152" cy="4443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flipH="1">
            <a:off x="8834995" y="0"/>
            <a:ext cx="3357005" cy="1104503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MULTIHOPPING ALGORITHM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047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30"/>
    </mc:Choice>
    <mc:Fallback xmlns="">
      <p:transition spd="slow" advTm="84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78169" y="425003"/>
            <a:ext cx="4275785" cy="2273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 smtClean="0"/>
              <a:t>txTask</a:t>
            </a:r>
            <a:endParaRPr lang="en-IN" b="1" dirty="0" smtClean="0"/>
          </a:p>
          <a:p>
            <a:pPr algn="ctr"/>
            <a:endParaRPr lang="en-IN" b="1" dirty="0" smtClean="0"/>
          </a:p>
          <a:p>
            <a:pPr algn="ctr"/>
            <a:r>
              <a:rPr lang="en-IN" b="1" dirty="0" smtClean="0"/>
              <a:t>Check queue → </a:t>
            </a:r>
            <a:r>
              <a:rPr lang="en-IN" b="1" dirty="0" err="1" smtClean="0"/>
              <a:t>dequeue</a:t>
            </a:r>
            <a:r>
              <a:rPr lang="en-IN" b="1" dirty="0" smtClean="0"/>
              <a:t> packet</a:t>
            </a:r>
          </a:p>
          <a:p>
            <a:pPr algn="ctr"/>
            <a:endParaRPr lang="en-IN" b="1" dirty="0" smtClean="0"/>
          </a:p>
          <a:p>
            <a:pPr algn="ctr"/>
            <a:r>
              <a:rPr lang="en-IN" b="1" dirty="0" smtClean="0"/>
              <a:t>Select best next hop </a:t>
            </a:r>
          </a:p>
          <a:p>
            <a:pPr algn="ctr"/>
            <a:r>
              <a:rPr lang="en-IN" b="1" dirty="0" smtClean="0"/>
              <a:t>(lowest hop, tie → highest RSSI)</a:t>
            </a:r>
          </a:p>
          <a:p>
            <a:pPr algn="ctr"/>
            <a:endParaRPr lang="en-IN" b="1" dirty="0" smtClean="0"/>
          </a:p>
          <a:p>
            <a:pPr algn="ctr"/>
            <a:r>
              <a:rPr lang="en-IN" b="1" dirty="0" smtClean="0"/>
              <a:t>Send data packet</a:t>
            </a:r>
            <a:endParaRPr lang="en-IN" b="1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716062" y="0"/>
            <a:ext cx="0" cy="425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76010" y="3406463"/>
            <a:ext cx="4275788" cy="29814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 smtClean="0"/>
              <a:t>OnDataRecv</a:t>
            </a:r>
            <a:endParaRPr lang="en-IN" b="1" dirty="0" smtClean="0"/>
          </a:p>
          <a:p>
            <a:pPr algn="ctr"/>
            <a:endParaRPr lang="en-IN" b="1" dirty="0"/>
          </a:p>
          <a:p>
            <a:pPr algn="ctr"/>
            <a:r>
              <a:rPr lang="en-IN" b="1" dirty="0"/>
              <a:t>If HELLO → update </a:t>
            </a:r>
            <a:r>
              <a:rPr lang="en-IN" b="1" dirty="0" err="1"/>
              <a:t>neighbor</a:t>
            </a:r>
            <a:r>
              <a:rPr lang="en-IN" b="1" dirty="0"/>
              <a:t> </a:t>
            </a:r>
            <a:r>
              <a:rPr lang="en-IN" b="1" dirty="0" smtClean="0"/>
              <a:t>table</a:t>
            </a:r>
          </a:p>
          <a:p>
            <a:pPr algn="ctr"/>
            <a:endParaRPr lang="en-IN" b="1" dirty="0" smtClean="0"/>
          </a:p>
          <a:p>
            <a:pPr algn="ctr"/>
            <a:r>
              <a:rPr lang="en-IN" b="1" dirty="0" smtClean="0"/>
              <a:t>If DATA →</a:t>
            </a:r>
          </a:p>
          <a:p>
            <a:pPr algn="ctr"/>
            <a:r>
              <a:rPr lang="en-IN" b="1" dirty="0" smtClean="0"/>
              <a:t>If </a:t>
            </a:r>
            <a:r>
              <a:rPr lang="en-IN" b="1" dirty="0"/>
              <a:t>destination = me/server → print data</a:t>
            </a:r>
          </a:p>
          <a:p>
            <a:pPr algn="ctr"/>
            <a:endParaRPr lang="en-IN" b="1" dirty="0" smtClean="0"/>
          </a:p>
          <a:p>
            <a:pPr algn="ctr"/>
            <a:r>
              <a:rPr lang="en-IN" b="1" dirty="0" smtClean="0"/>
              <a:t>Else </a:t>
            </a:r>
            <a:r>
              <a:rPr lang="en-IN" b="1" dirty="0"/>
              <a:t>→ increment </a:t>
            </a:r>
            <a:r>
              <a:rPr lang="en-IN" b="1" dirty="0" err="1"/>
              <a:t>hopCount</a:t>
            </a:r>
            <a:r>
              <a:rPr lang="en-IN" b="1" dirty="0"/>
              <a:t>, queue for forwarding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713904" y="2698123"/>
            <a:ext cx="0" cy="701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8479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6"/>
    </mc:Choice>
    <mc:Fallback xmlns="">
      <p:transition spd="slow" advTm="9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78169" y="425003"/>
            <a:ext cx="4275785" cy="11333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 smtClean="0"/>
              <a:t>OnDataSent</a:t>
            </a:r>
            <a:endParaRPr lang="en-IN" b="1" dirty="0" smtClean="0"/>
          </a:p>
          <a:p>
            <a:pPr algn="ctr"/>
            <a:endParaRPr lang="en-IN" b="1" dirty="0"/>
          </a:p>
          <a:p>
            <a:pPr algn="ctr"/>
            <a:r>
              <a:rPr lang="en-IN" b="1" dirty="0"/>
              <a:t>Print destination MAC and status (OK / FAIL)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716062" y="0"/>
            <a:ext cx="0" cy="425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716062" y="1558344"/>
            <a:ext cx="0" cy="701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4451791" y="2260243"/>
            <a:ext cx="2528541" cy="13329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Footlight MT Light" panose="0204060206030A020304" pitchFamily="18" charset="0"/>
              </a:rPr>
              <a:t>END</a:t>
            </a:r>
            <a:endParaRPr lang="en-IN" b="1" dirty="0">
              <a:latin typeface="Footlight MT Light" panose="0204060206030A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002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7"/>
    </mc:Choice>
    <mc:Fallback xmlns="">
      <p:transition spd="slow" advTm="10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1.8|2.1|1|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.5|1.8|1.2|1|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6|1.2|1.1|1.8|0.9|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1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|0.2|0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114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Footlight MT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11</cp:revision>
  <dcterms:created xsi:type="dcterms:W3CDTF">2025-11-30T13:26:22Z</dcterms:created>
  <dcterms:modified xsi:type="dcterms:W3CDTF">2026-01-21T10:36:33Z</dcterms:modified>
</cp:coreProperties>
</file>